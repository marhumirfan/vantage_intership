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PKR / day</c:v>
                </c:pt>
              </c:strCache>
            </c:strRef>
          </c:tx>
          <c:spPr>
            <a:solidFill>
              <a:srgbClr val="1618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18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181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D9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Minor Delay</c:v>
                  </c:pt>
                  <c:pt idx="1">
                    <c:v>Extended Overdue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18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6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6352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50208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50992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4848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51776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19488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86416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53344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20272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6263640"/>
            <a:ext cx="0" cy="109728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6373368"/>
            <a:ext cx="11091672" cy="0"/>
          </a:xfrm>
          <a:prstGeom prst="line">
            <a:avLst/>
          </a:prstGeom>
          <a:noFill/>
          <a:ln w="9525">
            <a:solidFill>
              <a:srgbClr val="3439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DEVELOPMENT INTERNSHIP // BACKEND 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13716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Library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66928" y="2971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API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" y="370332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fragile, unstructured text-file application to a secure,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normalized, high-performance relational web service.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5349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Arhum Irfan</a:t>
            </a:r>
            <a:pPr indent="0" marL="0">
              <a:lnSpc>
                <a:spcPts val="1700"/>
              </a:lnSpc>
              <a:buNone/>
            </a:pP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Intern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1051560"/>
            <a:ext cx="4069080" cy="4754880"/>
          </a:xfrm>
          <a:prstGeom prst="rect">
            <a:avLst/>
          </a:prstGeom>
          <a:solidFill>
            <a:srgbClr val="1F232B"/>
          </a:solidFill>
          <a:ln w="12700">
            <a:solidFill>
              <a:srgbClr val="3439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051560"/>
            <a:ext cx="4069080" cy="347472"/>
          </a:xfrm>
          <a:prstGeom prst="rect">
            <a:avLst/>
          </a:prstGeom>
          <a:solidFill>
            <a:srgbClr val="262B34"/>
          </a:solidFill>
          <a:ln/>
        </p:spPr>
      </p:sp>
      <p:sp>
        <p:nvSpPr>
          <p:cNvPr id="31" name="Shape 29"/>
          <p:cNvSpPr/>
          <p:nvPr/>
        </p:nvSpPr>
        <p:spPr>
          <a:xfrm>
            <a:off x="7754112" y="1179576"/>
            <a:ext cx="100584" cy="100584"/>
          </a:xfrm>
          <a:prstGeom prst="ellipse">
            <a:avLst/>
          </a:prstGeom>
          <a:solidFill>
            <a:srgbClr val="E2635D"/>
          </a:solidFill>
          <a:ln/>
        </p:spPr>
      </p:sp>
      <p:sp>
        <p:nvSpPr>
          <p:cNvPr id="32" name="Shape 30"/>
          <p:cNvSpPr/>
          <p:nvPr/>
        </p:nvSpPr>
        <p:spPr>
          <a:xfrm>
            <a:off x="7973568" y="1179576"/>
            <a:ext cx="100584" cy="100584"/>
          </a:xfrm>
          <a:prstGeom prst="ellipse">
            <a:avLst/>
          </a:prstGeom>
          <a:solidFill>
            <a:srgbClr val="E8B93E"/>
          </a:solidFill>
          <a:ln/>
        </p:spPr>
      </p:sp>
      <p:sp>
        <p:nvSpPr>
          <p:cNvPr id="33" name="Shape 31"/>
          <p:cNvSpPr/>
          <p:nvPr/>
        </p:nvSpPr>
        <p:spPr>
          <a:xfrm>
            <a:off x="8193024" y="1179576"/>
            <a:ext cx="100584" cy="100584"/>
          </a:xfrm>
          <a:prstGeom prst="ellipse">
            <a:avLst/>
          </a:prstGeom>
          <a:solidFill>
            <a:srgbClr val="2FD98A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105156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api.LibraryManagementSystem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18120" y="161848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run --project LibraryAPI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18120" y="19385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Building...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18120" y="22585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EF Core context: OK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18120" y="257860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SQL Server connection: OK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289864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Global exception middleware: 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18120" y="321868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Swagger UI mounted at /swagger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18120" y="3538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18120" y="38587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listening on: https://0.0.0.0:5001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818120" y="417880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started. Press Ctrl+C to shut down.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THE PROBLEM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Legacy System Had to 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compounding failure modes made the original console + flat-file application unfit for real-world, multi-user 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2152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50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Fragility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3474720"/>
            <a:ext cx="2990088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611880"/>
            <a:ext cx="2990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on flat text files (library.txt, history.txt) with no concurrency control — exposed to disk I/O corruption and manual syntax formatting errors.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148840"/>
            <a:ext cx="3502152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350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26864" y="274320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Bottlenecks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26864" y="3474720"/>
            <a:ext cx="2990088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3611880"/>
            <a:ext cx="2990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searching through in-memory dictionaries could not support complex filtering, pagination, or multi-user enterprise-scale traffic.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3024" y="2148840"/>
            <a:ext cx="3502152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350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49056" y="274320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Auditing Gaps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9056" y="3474720"/>
            <a:ext cx="2990088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3611880"/>
            <a:ext cx="2990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logic with no centralized database constraints led to inconsistent member tracking and missing audit trails.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· Legacy Problem Statement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THE SOLUTION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Architecture, Rebuilt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00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Technology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99339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Minimal APIs, Entity Framework Core (ORM), and Microsoft SQL Server.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17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41071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partitioning data entities, context configurations, and REST endpoints.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64608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34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Engineering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82803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exception middleware catches unhandled server exceptions and returns standardized JSON error payloads.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1554480"/>
            <a:ext cx="4206240" cy="448056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ARCHITECTURE LAYERS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2240280"/>
            <a:ext cx="3474720" cy="621792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27685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01000" y="25694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Minimal API routes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2999232"/>
            <a:ext cx="3474720" cy="621792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303580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3328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· Fines · Auth rules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18120" y="3758184"/>
            <a:ext cx="3474720" cy="621792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37947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Context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0100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ORM data access layer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18120" y="4517136"/>
            <a:ext cx="3474720" cy="621792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455371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Entities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4846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· User · Category · History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18120" y="5276088"/>
            <a:ext cx="3474720" cy="621792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53126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01000" y="56052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Relational persistence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· Enterprise Solution &amp; Architecture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DATA MODELING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Entity Models &amp; Schema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Strongly-typed C# models map directly to relational SQL tables via Entity Framework — enforcing integrity at the code and database layer alike.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5166360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13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597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Book.cs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inventory attributes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&amp; publication dates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checkout state flags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→ Category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553712"/>
            <a:ext cx="4617720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every unit of inventory and its live borrow status.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2148840"/>
            <a:ext cx="5166360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2788920"/>
            <a:ext cx="5166360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13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4597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User.cs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301752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301752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database-backed member id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338328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[DatabaseGenerated(DatabaseGeneratedOption.None)]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74904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&amp; credential association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41148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41148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active-loan relationship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4553712"/>
            <a:ext cx="4617720" cy="0"/>
          </a:xfrm>
          <a:prstGeom prst="line">
            <a:avLst/>
          </a:prstGeom>
          <a:noFill/>
          <a:ln w="12700">
            <a:solidFill>
              <a:srgbClr val="D8DB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6634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annotations give full control over member identification.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· Core Entity Models &amp; Schema 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DATABASE DESIGN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Relations: Categories &amp; Hierarchy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0"/>
            <a:ext cx="2103120" cy="59436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8288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58200" y="2423160"/>
            <a:ext cx="0" cy="457200"/>
          </a:xfrm>
          <a:prstGeom prst="line">
            <a:avLst/>
          </a:prstGeom>
          <a:noFill/>
          <a:ln w="15875">
            <a:solidFill>
              <a:srgbClr val="9AA2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2880360"/>
            <a:ext cx="5303520" cy="0"/>
          </a:xfrm>
          <a:prstGeom prst="line">
            <a:avLst/>
          </a:prstGeom>
          <a:noFill/>
          <a:ln w="15875">
            <a:solidFill>
              <a:srgbClr val="9AA2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880360"/>
            <a:ext cx="0" cy="320040"/>
          </a:xfrm>
          <a:prstGeom prst="line">
            <a:avLst/>
          </a:prstGeom>
          <a:noFill/>
          <a:ln w="15875">
            <a:solidFill>
              <a:srgbClr val="9AA2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3200400"/>
            <a:ext cx="1737360" cy="548640"/>
          </a:xfrm>
          <a:prstGeom prst="rect">
            <a:avLst/>
          </a:prstGeom>
          <a:solidFill>
            <a:srgbClr val="FAFAFA"/>
          </a:solidFill>
          <a:ln w="19050">
            <a:solidFill>
              <a:srgbClr val="2F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3200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SubCategory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58200" y="2880360"/>
            <a:ext cx="0" cy="320040"/>
          </a:xfrm>
          <a:prstGeom prst="line">
            <a:avLst/>
          </a:prstGeom>
          <a:noFill/>
          <a:ln w="15875">
            <a:solidFill>
              <a:srgbClr val="9AA2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3200400"/>
            <a:ext cx="1737360" cy="548640"/>
          </a:xfrm>
          <a:prstGeom prst="rect">
            <a:avLst/>
          </a:prstGeom>
          <a:solidFill>
            <a:srgbClr val="FAFAFA"/>
          </a:solidFill>
          <a:ln w="19050">
            <a:solidFill>
              <a:srgbClr val="2F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3200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SubCategory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698480" y="2880360"/>
            <a:ext cx="0" cy="320040"/>
          </a:xfrm>
          <a:prstGeom prst="line">
            <a:avLst/>
          </a:prstGeom>
          <a:noFill/>
          <a:ln w="15875">
            <a:solidFill>
              <a:srgbClr val="9AA2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29800" y="3200400"/>
            <a:ext cx="1737360" cy="548640"/>
          </a:xfrm>
          <a:prstGeom prst="rect">
            <a:avLst/>
          </a:prstGeom>
          <a:solidFill>
            <a:srgbClr val="FAFAFA"/>
          </a:solidFill>
          <a:ln w="19050">
            <a:solidFill>
              <a:srgbClr val="2F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3200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Items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4023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ParentCategoryId  →  self-referencing FK  →  SubCategories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1892808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842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Mapping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23500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robust 1-to-many relationship where a single Category manages multiple Book items via foreign key bindings.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10128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015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Stacking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376732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Self-referencing category relations (ParentCategoryId and SubCategories) handle parent-child taxonomy without string-parsing hacks.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27448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188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Integrity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18464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Database-level foreign key constraints ensure orphaned records cannot exist.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· Advanced Database Relations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API DESIGN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Design &amp; Routing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resource-oriented endpoints covering books, categories, members, and authentication — optimized with server-side LINQ evaluation.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36576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5669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ENDPOINT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8F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catalog by keyword, genre &amp; price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8F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/api/books/paginated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Skip-and-take pagination for large datasets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8F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/api/categories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Retrieve hierarchical category tree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462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/api/auth/login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Authenticate Admin, User &amp; Guest tiers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462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/api/books/{id}/checkout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Borrow a book, enforcing business rules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462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/api/fines/{id}/pay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 overdue fines &amp; partial payments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057400"/>
            <a:ext cx="11064240" cy="45720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19456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3504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· RESTful API Design &amp; Routing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BUSINESS LOGIC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 &amp; Checkout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automated guardrails protect inventory integrity and keep circulation fair across every member.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02152" cy="3566160"/>
          </a:xfrm>
          <a:prstGeom prst="rect">
            <a:avLst/>
          </a:prstGeom>
          <a:solidFill>
            <a:srgbClr val="FAFAFA"/>
          </a:solidFill>
          <a:ln w="15875">
            <a:solidFill>
              <a:srgbClr val="D8DB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0428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Protection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953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 ensures a book already marked as borrowed can never be double-booked.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2286000"/>
            <a:ext cx="3502152" cy="356616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60604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645152" y="36576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Checkout Limits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4114800"/>
            <a:ext cx="2953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are automatically restricted from holding more than 3 active checked-out books simultaneously.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3024" y="2286000"/>
            <a:ext cx="3502152" cy="3566160"/>
          </a:xfrm>
          <a:prstGeom prst="rect">
            <a:avLst/>
          </a:prstGeom>
          <a:solidFill>
            <a:srgbClr val="FAFAFA"/>
          </a:solidFill>
          <a:ln w="15875">
            <a:solidFill>
              <a:srgbClr val="D8D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30428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60604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days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467344" y="36576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 Compliance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7344" y="4114800"/>
            <a:ext cx="2953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strict 14-day checkout window is assigned automatically upon successful borrowing.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· Borrowing &amp; Checkout Business Logic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FINANCIAL LOGIC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Fine &amp; Return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days are calculated automatically by comparing current timestamps against the saved DueDate field.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6576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Settlement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transaction endpoints handle partial payments, full clearances, and exact change calculations.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TIERED FINE MULTIPLIERS ]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4480560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537960" y="1600200"/>
            <a:ext cx="5120640" cy="484632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RETURN &amp; FINE WORKFLOW ]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03720" y="2468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52360" y="24505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initiates return via API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903720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52360" y="32278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compares today's date to DueDate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0372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52360" y="40050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days × applicable tier multiplier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903720" y="4800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52360" y="4782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posted to member's account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903720" y="5577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52360" y="55595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or full payment settles balance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· Automated Fine &amp; Return Engine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DATA INTEGRITY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Compliance &amp; Audit Trail Logging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flat logs are replaced by a dedicated History table — every BORROW and RETURN event is captured atomically and traced end to 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2152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50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Database-Driven History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3886200"/>
            <a:ext cx="29900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History table tracks every BORROW and RETURN event in place of legacy flat logs.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2148840"/>
            <a:ext cx="3502152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350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6864" y="32004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Transactions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26864" y="3886200"/>
            <a:ext cx="29900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SaveChangesAsync ensures inventory updates and history audit logs commit together safely in a single database round-trip.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2148840"/>
            <a:ext cx="3502152" cy="3794760"/>
          </a:xfrm>
          <a:prstGeom prst="rect">
            <a:avLst/>
          </a:prstGeom>
          <a:ln w="15875">
            <a:solidFill>
              <a:srgbClr val="D8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2350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9056" y="32004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49056" y="3886200"/>
            <a:ext cx="29900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log record captures the exact timestamp, book ID, title, and member name for complete accountability.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· ACID Compliance &amp; Audit Trail Logging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SECURITY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Authentication &amp; Role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/api/auth/login endpoint validates three distinct permission tiers, keeping role logic cleanly separated from the data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2152" cy="283464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41448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2953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access: inventory, member records, and fine administration.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2148840"/>
            <a:ext cx="3502152" cy="2834640"/>
          </a:xfrm>
          <a:prstGeom prst="rect">
            <a:avLst/>
          </a:prstGeom>
          <a:solidFill>
            <a:srgbClr val="FAFAFA"/>
          </a:solidFill>
          <a:ln w="15875">
            <a:solidFill>
              <a:srgbClr val="D8DB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441448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45152" y="3035808"/>
            <a:ext cx="2953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Borrow, return, and manage personal checkout history and fines.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2148840"/>
            <a:ext cx="3502152" cy="2834640"/>
          </a:xfrm>
          <a:prstGeom prst="rect">
            <a:avLst/>
          </a:prstGeom>
          <a:solidFill>
            <a:srgbClr val="FAFAFA"/>
          </a:solidFill>
          <a:ln w="15875">
            <a:solidFill>
              <a:srgbClr val="D8DB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216712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2441448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67344" y="3035808"/>
            <a:ext cx="2953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browsing only — gated behind mandatory 18+ age verification.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Guards &amp; Credential Isolation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validation rules enforce guest age limits, and role-based logic is separated cleanly from data layers to prevent privilege escalation.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· Security, Authentication &amp; Role Control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QUALITY ASSURANCE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&amp;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4340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scenarios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automated regression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4434840"/>
            <a:ext cx="2651760" cy="0"/>
          </a:xfrm>
          <a:prstGeom prst="line">
            <a:avLst/>
          </a:prstGeom>
          <a:noFill/>
          <a:ln w="12700">
            <a:solidFill>
              <a:srgbClr val="3439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FRAMEWORK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 + Microsoft VSTest adapter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69164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EDGE CASE VERIFICATION 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7178040" cy="621792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10312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fine multiplier calculations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834640"/>
            <a:ext cx="7178040" cy="621792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83464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whitespace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3566160"/>
            <a:ext cx="7178040" cy="621792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56616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age-limit enforcement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34840" y="4297680"/>
            <a:ext cx="7178040" cy="621792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29768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29768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3-book checkout cap enforcement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5029200"/>
            <a:ext cx="7178040" cy="621792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502920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502920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day &amp; DueDate comparisons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34840" y="5760720"/>
            <a:ext cx="7178040" cy="621792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576072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576072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prevention on borrow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· Quality Assurance &amp; Automated Testing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RELIABILITY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Error Handling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global exception middleware captures runtime faults gracefully — never exposing stack traces to end users.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48256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95728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succeeded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2103120"/>
            <a:ext cx="2048256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2395728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07792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created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47488" y="2103120"/>
            <a:ext cx="2048256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395728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57216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57216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input rejected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96912" y="2103120"/>
            <a:ext cx="2048256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395728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0664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does not exist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46336" y="2103120"/>
            <a:ext cx="2048256" cy="237744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6336" y="2395728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656064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Error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56064" y="3566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contained gracefully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800600"/>
            <a:ext cx="10424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  </a:t>
            </a:r>
            <a:pPr indent="0" marL="0">
              <a:lnSpc>
                <a:spcPts val="1700"/>
              </a:lnSpc>
              <a:buNone/>
            </a:pP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application crashes from malformed inputs or database timeouts, keeping the API stable under real-world, unpredictable client behavior.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· Defensive Error Handling Strategy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DEMONSTRATION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75488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INTERACTIVE DOCUMENTATION 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/swagger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schema inspection and endpoint testing directly from the browser — every route, model, and response code is explorable in real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4297680" cy="0"/>
          </a:xfrm>
          <a:prstGeom prst="line">
            <a:avLst/>
          </a:prstGeom>
          <a:noFill/>
          <a:ln w="12700">
            <a:solidFill>
              <a:srgbClr val="3439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ZERO-DOWNTIME VERIFICATION 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database synchronization proven live through SQL Server Management Studio.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19202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DEMONSTRATION FLOW 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23774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377440"/>
            <a:ext cx="4937760" cy="685800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3774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a user via /api/auth/login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91072" y="2834640"/>
            <a:ext cx="0" cy="502920"/>
          </a:xfrm>
          <a:prstGeom prst="line">
            <a:avLst/>
          </a:prstGeom>
          <a:noFill/>
          <a:ln w="15875">
            <a:solidFill>
              <a:srgbClr val="D8DB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035040" y="33375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337560"/>
            <a:ext cx="4937760" cy="685800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3375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filter live book inventory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91072" y="3794760"/>
            <a:ext cx="0" cy="502920"/>
          </a:xfrm>
          <a:prstGeom prst="line">
            <a:avLst/>
          </a:prstGeom>
          <a:noFill/>
          <a:ln w="15875">
            <a:solidFill>
              <a:srgbClr val="D8DBE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035040" y="4297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4297680"/>
            <a:ext cx="4937760" cy="685800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42976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hierarchical category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91072" y="4754880"/>
            <a:ext cx="0" cy="502920"/>
          </a:xfrm>
          <a:prstGeom prst="line">
            <a:avLst/>
          </a:prstGeom>
          <a:noFill/>
          <a:ln w="15875">
            <a:solidFill>
              <a:srgbClr val="D8DB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35040" y="52578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5257800"/>
            <a:ext cx="4937760" cy="685800"/>
          </a:xfrm>
          <a:prstGeom prst="rect">
            <a:avLst/>
          </a:prstGeom>
          <a:ln w="12700">
            <a:solidFill>
              <a:srgbClr val="D8DB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5257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 checkout and fine calculation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· Live Demonstration Architecture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PERSONAL &amp; TECHNICAL GROWTH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Growth &amp; Engineering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02152" cy="3749040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2140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04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315468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Mastery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840480"/>
            <a:ext cx="2990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Deepened understanding of backend engineering, ORM mapping, relational database design, and asynchronous C#.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103120"/>
            <a:ext cx="3502152" cy="3749040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2140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304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26864" y="315468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3840480"/>
            <a:ext cx="2990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migrated an isolated console application into an enterprise-ready web service architecture.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2103120"/>
            <a:ext cx="3502152" cy="3749040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121408"/>
            <a:ext cx="457200" cy="0"/>
          </a:xfrm>
          <a:prstGeom prst="line">
            <a:avLst/>
          </a:prstGeom>
          <a:noFill/>
          <a:ln w="31750">
            <a:solidFill>
              <a:srgbClr val="2F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304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9056" y="315468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Standards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3840480"/>
            <a:ext cx="2990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industry-standard testing practices and modular design patterns.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Internship Growth &amp; Engineering Impact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97696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64624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31552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65408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2336" y="0"/>
            <a:ext cx="0" cy="6858000"/>
          </a:xfrm>
          <a:prstGeom prst="line">
            <a:avLst/>
          </a:prstGeom>
          <a:noFill/>
          <a:ln w="6350">
            <a:solidFill>
              <a:srgbClr val="3439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CONCLUSION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84124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Success &amp;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Ahead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 fully functional, tested, and normalized backend API meeting all project requirements.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FUTURE ROADMAP 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bearer token authentication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via Docker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 deployment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52360" y="1920240"/>
            <a:ext cx="4206240" cy="3383280"/>
          </a:xfrm>
          <a:prstGeom prst="rect">
            <a:avLst/>
          </a:prstGeom>
          <a:ln w="12700">
            <a:solidFill>
              <a:srgbClr val="3439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8346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72668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 floor for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review and questions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Arhum Irfan   ·   Software Development Intern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2026-08-28T09:51:01Z</dcterms:created>
  <dcterms:modified xsi:type="dcterms:W3CDTF">2026-08-28T09:51:01Z</dcterms:modified>
</cp:coreProperties>
</file>